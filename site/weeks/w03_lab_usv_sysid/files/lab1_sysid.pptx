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61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1599B-5C26-FC02-7708-C20D4BF489EE}" v="731" dt="2026-04-17T17:21:03.9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USV Lab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System Identification</a:t>
            </a:r>
          </a:p>
          <a:p>
            <a:br>
              <a:rPr lang="en-US" dirty="0"/>
            </a:br>
            <a:r>
              <a:rPr lang="en-US"/>
              <a:t>Find simple transfer function models </a:t>
            </a:r>
            <a:br>
              <a:rPr lang="en-US" dirty="0"/>
            </a:br>
            <a:r>
              <a:rPr lang="en-US"/>
              <a:t>to approximate the steering </a:t>
            </a:r>
            <a:r>
              <a:rPr lang="en-US" dirty="0"/>
              <a:t>and yaw response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23E4-CD5E-27F4-84AA-F68A2D215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60569D-BCCC-F474-C2ED-64A85684947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361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Given</a:t>
            </a:r>
            <a:r>
              <a:rPr lang="en-US"/>
              <a:t> the experimental dataset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Create</a:t>
            </a:r>
            <a:r>
              <a:rPr lang="en-US" dirty="0"/>
              <a:t> two first-order transfer function models (surge and yaw-rate) to approximate the USV dynamics for </a:t>
            </a:r>
            <a:r>
              <a:rPr lang="en-US"/>
              <a:t>use in feedback control design.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These models allow us to simulate the USV in MATLAB.</a:t>
            </a:r>
            <a:endParaRPr lang="en-US" dirty="0"/>
          </a:p>
        </p:txBody>
      </p:sp>
      <p:pic>
        <p:nvPicPr>
          <p:cNvPr id="8" name="Picture 7" descr="A graph of a step response&#10;&#10;AI-generated content may be incorrect.">
            <a:extLst>
              <a:ext uri="{FF2B5EF4-FFF2-40B4-BE49-F238E27FC236}">
                <a16:creationId xmlns:a16="http://schemas.microsoft.com/office/drawing/2014/main" id="{F8945CD7-8CC4-B53E-D4D1-42BF7864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382" y="1262802"/>
            <a:ext cx="6002442" cy="392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2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2FAD-AE2C-A952-5674-F50E527ED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8636"/>
            <a:ext cx="10515600" cy="333832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Load data</a:t>
            </a:r>
            <a:r>
              <a:rPr lang="en-US" dirty="0">
                <a:ea typeface="+mn-lt"/>
                <a:cs typeface="+mn-lt"/>
              </a:rPr>
              <a:t> — preprocessed </a:t>
            </a:r>
            <a:r>
              <a:rPr lang="en-US" dirty="0" err="1">
                <a:ea typeface="+mn-lt"/>
                <a:cs typeface="+mn-lt"/>
              </a:rPr>
              <a:t>ArduPilot</a:t>
            </a:r>
            <a:r>
              <a:rPr lang="en-US" dirty="0">
                <a:ea typeface="+mn-lt"/>
                <a:cs typeface="+mn-lt"/>
              </a:rPr>
              <a:t> log containing actuator commands and vehicle response.</a:t>
            </a:r>
          </a:p>
          <a:p>
            <a:r>
              <a:rPr lang="en-US" b="1" dirty="0">
                <a:ea typeface="+mn-lt"/>
                <a:cs typeface="+mn-lt"/>
              </a:rPr>
              <a:t>Select channel</a:t>
            </a:r>
            <a:r>
              <a:rPr lang="en-US" dirty="0">
                <a:ea typeface="+mn-lt"/>
                <a:cs typeface="+mn-lt"/>
              </a:rPr>
              <a:t> — choose one input/output pair (e.g. throttle → speed, rudder → yaw rate).</a:t>
            </a:r>
          </a:p>
          <a:p>
            <a:r>
              <a:rPr lang="en-US" b="1">
                <a:ea typeface="+mn-lt"/>
                <a:cs typeface="+mn-lt"/>
              </a:rPr>
              <a:t>Isolate a step </a:t>
            </a:r>
            <a:r>
              <a:rPr lang="en-US">
                <a:ea typeface="+mn-lt"/>
                <a:cs typeface="+mn-lt"/>
              </a:rPr>
              <a:t>— manually clip a single clean step response and zero the time axis.</a:t>
            </a:r>
          </a:p>
          <a:p>
            <a:r>
              <a:rPr lang="en-US" b="1">
                <a:ea typeface="+mn-lt"/>
                <a:cs typeface="+mn-lt"/>
              </a:rPr>
              <a:t>Scale input</a:t>
            </a:r>
            <a:r>
              <a:rPr lang="en-US">
                <a:ea typeface="+mn-lt"/>
                <a:cs typeface="+mn-lt"/>
              </a:rPr>
              <a:t> — convert PWM to normalized effort (±1).</a:t>
            </a:r>
          </a:p>
          <a:p>
            <a:r>
              <a:rPr lang="en-US" b="1">
                <a:ea typeface="+mn-lt"/>
                <a:cs typeface="+mn-lt"/>
              </a:rPr>
              <a:t>Initial estimate</a:t>
            </a:r>
            <a:r>
              <a:rPr lang="en-US">
                <a:ea typeface="+mn-lt"/>
                <a:cs typeface="+mn-lt"/>
              </a:rPr>
              <a:t> — read DC gain and time constant off the plot by inspection.</a:t>
            </a:r>
          </a:p>
          <a:p>
            <a:r>
              <a:rPr lang="en-US" b="1" dirty="0">
                <a:ea typeface="+mn-lt"/>
                <a:cs typeface="+mn-lt"/>
              </a:rPr>
              <a:t>Curve fit </a:t>
            </a:r>
            <a:r>
              <a:rPr lang="en-US" dirty="0">
                <a:ea typeface="+mn-lt"/>
                <a:cs typeface="+mn-lt"/>
              </a:rPr>
              <a:t>— refine parameters with </a:t>
            </a:r>
            <a:r>
              <a:rPr lang="en-US" dirty="0" err="1">
                <a:ea typeface="+mn-lt"/>
                <a:cs typeface="+mn-lt"/>
              </a:rPr>
              <a:t>lsqcurvefit</a:t>
            </a:r>
            <a:r>
              <a:rPr lang="en-US" dirty="0">
                <a:ea typeface="+mn-lt"/>
                <a:cs typeface="+mn-lt"/>
              </a:rPr>
              <a:t> to match the experimental data.</a:t>
            </a:r>
          </a:p>
          <a:p>
            <a:r>
              <a:rPr lang="en-US" b="1" dirty="0">
                <a:ea typeface="+mn-lt"/>
                <a:cs typeface="+mn-lt"/>
              </a:rPr>
              <a:t>Result </a:t>
            </a:r>
            <a:r>
              <a:rPr lang="en-US" dirty="0">
                <a:ea typeface="+mn-lt"/>
                <a:cs typeface="+mn-lt"/>
              </a:rPr>
              <a:t>— identified first-order model</a:t>
            </a:r>
            <a:endParaRPr lang="en-US" dirty="0"/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E061959-6073-C09E-306E-E5E32D3E7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195" y="314500"/>
            <a:ext cx="3439646" cy="1847290"/>
          </a:xfrm>
          <a:prstGeom prst="rect">
            <a:avLst/>
          </a:prstGeom>
        </p:spPr>
      </p:pic>
      <p:pic>
        <p:nvPicPr>
          <p:cNvPr id="7" name="Picture 6" descr="A graph of a step response&#10;&#10;AI-generated content may be incorrect.">
            <a:extLst>
              <a:ext uri="{FF2B5EF4-FFF2-40B4-BE49-F238E27FC236}">
                <a16:creationId xmlns:a16="http://schemas.microsoft.com/office/drawing/2014/main" id="{A1CD3B3F-1221-9C35-5AE4-15B8B693B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81" y="81889"/>
            <a:ext cx="3524008" cy="229957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5A299CF7-09B9-6D33-271B-656F44D560EC}"/>
              </a:ext>
            </a:extLst>
          </p:cNvPr>
          <p:cNvSpPr/>
          <p:nvPr/>
        </p:nvSpPr>
        <p:spPr>
          <a:xfrm>
            <a:off x="5908431" y="316522"/>
            <a:ext cx="961292" cy="38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1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F3AE714-D9F7-D8F0-23B6-3C28BE4E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698" y="2011135"/>
            <a:ext cx="2337555" cy="1154490"/>
          </a:xfrm>
          <a:prstGeom prst="rect">
            <a:avLst/>
          </a:prstGeom>
        </p:spPr>
      </p:pic>
      <p:pic>
        <p:nvPicPr>
          <p:cNvPr id="9" name="Picture 8" descr="A black numbers and lines&#10;&#10;AI-generated content may be incorrect.">
            <a:extLst>
              <a:ext uri="{FF2B5EF4-FFF2-40B4-BE49-F238E27FC236}">
                <a16:creationId xmlns:a16="http://schemas.microsoft.com/office/drawing/2014/main" id="{9D8234B6-85E8-96F7-3BED-F8A59AEE6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995" y="4023708"/>
            <a:ext cx="3078389" cy="1132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DED299-971A-EC65-A729-2193417C33FC}"/>
              </a:ext>
            </a:extLst>
          </p:cNvPr>
          <p:cNvSpPr txBox="1"/>
          <p:nvPr/>
        </p:nvSpPr>
        <p:spPr>
          <a:xfrm>
            <a:off x="7747092" y="1538328"/>
            <a:ext cx="34231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Model: General 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261F3-5EC9-298D-0F62-9B26D50E4383}"/>
              </a:ext>
            </a:extLst>
          </p:cNvPr>
          <p:cNvSpPr txBox="1"/>
          <p:nvPr/>
        </p:nvSpPr>
        <p:spPr>
          <a:xfrm>
            <a:off x="7747092" y="3554696"/>
            <a:ext cx="39858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Model: System Identification</a:t>
            </a:r>
          </a:p>
        </p:txBody>
      </p:sp>
      <p:pic>
        <p:nvPicPr>
          <p:cNvPr id="14" name="Content Placeholder 13" descr="A screenshot of a graph&#10;&#10;AI-generated content may be incorrect.">
            <a:extLst>
              <a:ext uri="{FF2B5EF4-FFF2-40B4-BE49-F238E27FC236}">
                <a16:creationId xmlns:a16="http://schemas.microsoft.com/office/drawing/2014/main" id="{353A3649-1F6B-03D0-C08F-38E574C2D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9631" y="144387"/>
            <a:ext cx="6455117" cy="61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3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4E57-6567-F748-7CA7-8BF63DF7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1: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F656-4FF1-D9B7-4C4D-D9AD562C6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Presentation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Title with team name and member names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Two slides. Each slide has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Final step response data plot with correct units.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Table with model parameters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Transfer function expression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May use the following slides as a template.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Submit as pptx file.  Shared copy, but each person submits via Sakai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63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2002-E863-33CF-BFCD-710AB9AD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USV Surge Model </a:t>
            </a:r>
            <a:r>
              <a:rPr lang="en-US"/>
              <a:t>Identification</a:t>
            </a:r>
            <a:endParaRPr lang="en-US" dirty="0"/>
          </a:p>
        </p:txBody>
      </p:sp>
      <p:pic>
        <p:nvPicPr>
          <p:cNvPr id="4" name="Content Placeholder 3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ABE62B9A-EF8B-3EB4-006C-02B969D98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572" y="2056362"/>
            <a:ext cx="6516158" cy="392838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4BF867-AC13-88B9-8272-E484F9D83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1074"/>
              </p:ext>
            </p:extLst>
          </p:nvPr>
        </p:nvGraphicFramePr>
        <p:xfrm>
          <a:off x="7115907" y="2262553"/>
          <a:ext cx="4698471" cy="1172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11">
                  <a:extLst>
                    <a:ext uri="{9D8B030D-6E8A-4147-A177-3AD203B41FA5}">
                      <a16:colId xmlns:a16="http://schemas.microsoft.com/office/drawing/2014/main" val="1231373952"/>
                    </a:ext>
                  </a:extLst>
                </a:gridCol>
                <a:gridCol w="1050113">
                  <a:extLst>
                    <a:ext uri="{9D8B030D-6E8A-4147-A177-3AD203B41FA5}">
                      <a16:colId xmlns:a16="http://schemas.microsoft.com/office/drawing/2014/main" val="919023814"/>
                    </a:ext>
                  </a:extLst>
                </a:gridCol>
                <a:gridCol w="848047">
                  <a:extLst>
                    <a:ext uri="{9D8B030D-6E8A-4147-A177-3AD203B41FA5}">
                      <a16:colId xmlns:a16="http://schemas.microsoft.com/office/drawing/2014/main" val="2033250796"/>
                    </a:ext>
                  </a:extLst>
                </a:gridCol>
              </a:tblGrid>
              <a:tr h="390954">
                <a:tc>
                  <a:txBody>
                    <a:bodyPr/>
                    <a:lstStyle/>
                    <a:p>
                      <a:r>
                        <a:rPr lang="en-US"/>
                        <a:t>Model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Units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299067"/>
                  </a:ext>
                </a:extLst>
              </a:tr>
              <a:tr h="390954">
                <a:tc>
                  <a:txBody>
                    <a:bodyPr/>
                    <a:lstStyle/>
                    <a:p>
                      <a:r>
                        <a:rPr lang="en-US" dirty="0"/>
                        <a:t>DC Gain (</a:t>
                      </a:r>
                      <a:r>
                        <a:rPr lang="en-US" dirty="0" err="1"/>
                        <a:t>Kdc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m/s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6434"/>
                  </a:ext>
                </a:extLst>
              </a:tr>
              <a:tr h="3909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Time Constant (tau)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1.11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34911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2F0510C-1E21-F62A-5C4F-3555FF079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679" y="4274527"/>
            <a:ext cx="28765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6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78CC-41DF-B9A9-A4C8-D1902ACA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BCC4-79A2-11E2-DC9A-EA4B613C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USV Yaw-Rate Model Identification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41769C-4AF8-F3D4-C486-EAE33B9BF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188819"/>
              </p:ext>
            </p:extLst>
          </p:nvPr>
        </p:nvGraphicFramePr>
        <p:xfrm>
          <a:off x="7115907" y="2262553"/>
          <a:ext cx="4698471" cy="1172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11">
                  <a:extLst>
                    <a:ext uri="{9D8B030D-6E8A-4147-A177-3AD203B41FA5}">
                      <a16:colId xmlns:a16="http://schemas.microsoft.com/office/drawing/2014/main" val="1231373952"/>
                    </a:ext>
                  </a:extLst>
                </a:gridCol>
                <a:gridCol w="1050113">
                  <a:extLst>
                    <a:ext uri="{9D8B030D-6E8A-4147-A177-3AD203B41FA5}">
                      <a16:colId xmlns:a16="http://schemas.microsoft.com/office/drawing/2014/main" val="919023814"/>
                    </a:ext>
                  </a:extLst>
                </a:gridCol>
                <a:gridCol w="848047">
                  <a:extLst>
                    <a:ext uri="{9D8B030D-6E8A-4147-A177-3AD203B41FA5}">
                      <a16:colId xmlns:a16="http://schemas.microsoft.com/office/drawing/2014/main" val="2033250796"/>
                    </a:ext>
                  </a:extLst>
                </a:gridCol>
              </a:tblGrid>
              <a:tr h="390954">
                <a:tc>
                  <a:txBody>
                    <a:bodyPr/>
                    <a:lstStyle/>
                    <a:p>
                      <a:r>
                        <a:rPr lang="en-US"/>
                        <a:t>Model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Units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299067"/>
                  </a:ext>
                </a:extLst>
              </a:tr>
              <a:tr h="390954">
                <a:tc>
                  <a:txBody>
                    <a:bodyPr/>
                    <a:lstStyle/>
                    <a:p>
                      <a:r>
                        <a:rPr lang="en-US" dirty="0"/>
                        <a:t>DC Gain (</a:t>
                      </a:r>
                      <a:r>
                        <a:rPr lang="en-US" dirty="0" err="1"/>
                        <a:t>Kdc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rad/s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6434"/>
                  </a:ext>
                </a:extLst>
              </a:tr>
              <a:tr h="3909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Time Constant (tau)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34911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118191E-DC48-A3D0-6770-EE6B6579B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402" y="4169019"/>
            <a:ext cx="2876550" cy="723900"/>
          </a:xfrm>
          <a:prstGeom prst="rect">
            <a:avLst/>
          </a:prstGeom>
        </p:spPr>
      </p:pic>
      <p:pic>
        <p:nvPicPr>
          <p:cNvPr id="10" name="Picture 9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FCAEB769-4CD3-4760-7797-4CEE54142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87" y="1698776"/>
            <a:ext cx="6038095" cy="477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1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7095-A29E-E371-8785-F24033F3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93EF0-6F5F-29A1-CFB8-ED43C6A3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707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There are always "unmodelled </a:t>
            </a:r>
            <a:r>
              <a:rPr lang="en-US"/>
              <a:t>dynamics".  The challenge is knowing how much is sufficient.</a:t>
            </a:r>
            <a:endParaRPr lang="en-US" dirty="0"/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3B17365E-9FB3-79F3-F57D-8795858A3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4" y="1296685"/>
            <a:ext cx="6873422" cy="541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8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F8A6A-9C70-1779-0A87-BAF78954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9FB6-40EB-A71F-D8D9-C932F5B0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48673-4505-A023-DCA9-4CB114345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707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There are always "unmodelled </a:t>
            </a:r>
            <a:r>
              <a:rPr lang="en-US"/>
              <a:t>dynamics".  The challenge is knowing how much is sufficient.</a:t>
            </a:r>
            <a:endParaRPr lang="en-US" dirty="0"/>
          </a:p>
        </p:txBody>
      </p:sp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FF86D9E0-2BFD-FF20-DCDB-814AEE572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669" y="1517348"/>
            <a:ext cx="7303710" cy="523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1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USV Lab 1</vt:lpstr>
      <vt:lpstr>Objectives</vt:lpstr>
      <vt:lpstr>PowerPoint Presentation</vt:lpstr>
      <vt:lpstr>PowerPoint Presentation</vt:lpstr>
      <vt:lpstr>Lab 1: Presentation</vt:lpstr>
      <vt:lpstr>USV Surge Model Identification</vt:lpstr>
      <vt:lpstr>USV Yaw-Rate Model Identification</vt:lpstr>
      <vt:lpstr>Model Limitations</vt:lpstr>
      <vt:lpstr>Model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406</cp:revision>
  <dcterms:created xsi:type="dcterms:W3CDTF">2026-04-13T00:58:49Z</dcterms:created>
  <dcterms:modified xsi:type="dcterms:W3CDTF">2026-04-17T17:25:52Z</dcterms:modified>
</cp:coreProperties>
</file>